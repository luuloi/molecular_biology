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35" r:id="rId3"/>
    <p:sldId id="541" r:id="rId4"/>
    <p:sldId id="534" r:id="rId5"/>
    <p:sldId id="536" r:id="rId6"/>
    <p:sldId id="533" r:id="rId7"/>
    <p:sldId id="537" r:id="rId8"/>
    <p:sldId id="538" r:id="rId9"/>
    <p:sldId id="54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8" d="100"/>
          <a:sy n="88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FBD4-7C1D-6B9A-CC34-38A08CFCC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48292-3AD9-6E5C-96BB-97F9DAA3C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39AFD-9355-AA71-70C7-DE0E0EC9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6C25B-812A-1E8D-15B5-3517BB08B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80DE2-4F57-FA5F-9871-C20B0ADD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1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3301-18AF-870F-C212-61CB249DC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04F5B-DC5F-658B-67AF-2808E2A0B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6D903-1A5C-DD86-559A-7100076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7470E-1BD0-5A7A-005A-55B2DF388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B8AE4-DE6D-F14D-F4AC-648247BB1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21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94C8B-6E5E-DE7A-32E4-1447754C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27759-149F-C7C3-DF5A-1DBEA4133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53D23-48C5-B922-306F-E13A39C92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8BB15-062D-F0EC-5AD4-A5815879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6F85F-F58D-EA58-07FA-58D7D86D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9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1CEFD-6058-2152-2C55-7ABA9BB7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10B97-B733-BF96-3D47-E4C5808EC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08348-B746-5552-E3C6-503AD92F6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CE548-893F-72B9-E981-72056E502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9A6C7-3858-ADCE-7972-4EC3CCB5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55E2D-7B77-C94F-E2E4-3BE10E7C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0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AF6B-C7C2-D14B-BCD1-D13D9E87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983A9-3541-7C01-A87C-5079ED31D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31C9E-532D-34EE-2D4E-79CD354A9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2864E0-BFB0-9F27-34D3-A5838CE2E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13F00-E7D9-51DF-C3B4-E2EE229A71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027D33-A71D-873F-1E7B-38F81C48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40D929-9DC7-E0C6-B380-136352D10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B85335-C0F0-9944-081B-0C83DC2C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64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1BF8-BDE4-DD5B-8093-43D379B0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443F-E5D1-AD56-B8FA-A5BE21F8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074A9-976C-58C2-7D35-28F2166F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922E9-A9D4-2A9A-C573-014296C4A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6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D7C72D-A5A3-4276-BED3-F1CC761C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8895AE-D6FE-BBFC-607E-6DE7D2D1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19084-550C-E3E6-244E-C1497A97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6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3A33-421A-092F-A76F-114627E1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D2A0E-60F4-191B-0AEE-90E761F83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BBBAB-7913-DE2C-E6C1-96B709A67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3FC4D-213C-32D5-E0C5-35C2A366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F543B-786F-CA0A-03BE-27A4EE2C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07A42-65B4-BC30-BE77-4819C146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3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F314-1D45-D07D-A981-DE1E0C7A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251C9-C451-E003-B859-707437218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9F891-6C07-9A2A-F600-E63CE998E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B4AB1-99E7-FD50-0829-C1408415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125A-1FB9-10B1-95A5-0805EB52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727E0-960D-9B0E-6771-9F93524D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9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A5BF3-CBC1-7F2F-CC34-27095579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46C7A-C57E-D359-9398-71DC75DD9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40D33-8712-DA12-F3EB-5E1A88E1D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D5AE8-9B2F-BD49-CF2B-2E371B03A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C4514-AF9D-9F49-9E91-99B083A6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3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6810D-F24A-F432-F2FC-C1353F369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EEFAD-2EB6-ED64-2216-DA2060A6E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8603A-1C24-5044-1716-1F07F4E6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C7859-904D-667F-AE72-132FCB0EB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72612-21BE-3340-ECD6-DA2C86F9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1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38725-CBBA-BFAD-B799-7F2B19596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0B0BB-C022-1A59-3842-EE975B0C2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055A3-2B79-A1DB-2023-64FC64377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2BC842FF-0D3D-44AC-9EC6-C5F6A3B24860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7892D-2AF7-5002-6018-4739DB54B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8D5C2-B94E-FEC6-ECCF-DE14D3050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9AEED49-1CF9-4469-9CEE-539F41BB2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297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Luu.p.loi@google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105-F644-D68E-342A-40F009463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7"/>
            <a:ext cx="9144000" cy="2387600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Initiating DNA Replication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56907-E2C4-B33B-BF50-4BBEB7DB6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6438"/>
            <a:ext cx="9144000" cy="1655762"/>
          </a:xfrm>
        </p:spPr>
        <p:txBody>
          <a:bodyPr>
            <a:normAutofit/>
          </a:bodyPr>
          <a:lstStyle/>
          <a:p>
            <a:r>
              <a:rPr lang="vi-VN" sz="2000" dirty="0"/>
              <a:t>Phuc Loi Luu, PhD</a:t>
            </a:r>
          </a:p>
          <a:p>
            <a:r>
              <a:rPr lang="en-GB" sz="2000" dirty="0">
                <a:hlinkClick r:id="rId2"/>
              </a:rPr>
              <a:t>Email: </a:t>
            </a:r>
            <a:r>
              <a:rPr lang="vi-VN" sz="2000" dirty="0">
                <a:hlinkClick r:id="rId2"/>
              </a:rPr>
              <a:t>Luu.p.loi@googlemail.com</a:t>
            </a:r>
            <a:endParaRPr lang="en-GB" sz="2000" dirty="0"/>
          </a:p>
          <a:p>
            <a:r>
              <a:rPr lang="en-GB" sz="2000" dirty="0" err="1"/>
              <a:t>Zalo</a:t>
            </a:r>
            <a:r>
              <a:rPr lang="en-GB" sz="2000" dirty="0"/>
              <a:t>: 0901802182</a:t>
            </a:r>
            <a:endParaRPr lang="vi-VN" sz="2000" dirty="0"/>
          </a:p>
          <a:p>
            <a:r>
              <a:rPr lang="vi-VN" sz="2000" dirty="0"/>
              <a:t> </a:t>
            </a:r>
            <a:r>
              <a:rPr lang="en-GB" sz="2000" dirty="0"/>
              <a:t>Feb 03</a:t>
            </a:r>
            <a:r>
              <a:rPr lang="vi-VN" sz="2000" dirty="0"/>
              <a:t> 202</a:t>
            </a:r>
            <a:r>
              <a:rPr lang="en-GB" sz="2000" dirty="0"/>
              <a:t>6</a:t>
            </a:r>
            <a:endParaRPr lang="en-US" sz="2000" dirty="0"/>
          </a:p>
        </p:txBody>
      </p:sp>
      <p:pic>
        <p:nvPicPr>
          <p:cNvPr id="4" name="Picture 2" descr="Không có mô tả ảnh.">
            <a:extLst>
              <a:ext uri="{FF2B5EF4-FFF2-40B4-BE49-F238E27FC236}">
                <a16:creationId xmlns:a16="http://schemas.microsoft.com/office/drawing/2014/main" id="{7021495C-C017-68A7-86FE-E4E1AD001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80" y="82579"/>
            <a:ext cx="1352961" cy="134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09320F1B-35EE-4B1B-836E-D1D502281AD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4" b="14251"/>
          <a:stretch/>
        </p:blipFill>
        <p:spPr>
          <a:xfrm>
            <a:off x="6156025" y="27905"/>
            <a:ext cx="2233851" cy="1507272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708D07A-BEBF-F182-D14B-2C28AF967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74" y="58009"/>
            <a:ext cx="1335305" cy="1335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Đại học Đồng Tháp - eUni - Đại học trực tuyến hàng đầu Việt Nam">
            <a:extLst>
              <a:ext uri="{FF2B5EF4-FFF2-40B4-BE49-F238E27FC236}">
                <a16:creationId xmlns:a16="http://schemas.microsoft.com/office/drawing/2014/main" id="{CE7B2D3F-E2F2-A3C7-5DF3-56E87034C2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0" t="8452" r="20841" b="10746"/>
          <a:stretch/>
        </p:blipFill>
        <p:spPr bwMode="auto">
          <a:xfrm>
            <a:off x="3262935" y="-10485"/>
            <a:ext cx="1617560" cy="150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2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okaryotic DNA Replication figure">
            <a:extLst>
              <a:ext uri="{FF2B5EF4-FFF2-40B4-BE49-F238E27FC236}">
                <a16:creationId xmlns:a16="http://schemas.microsoft.com/office/drawing/2014/main" id="{DEFBCD5E-260E-42D0-F1F3-4EDBCBD11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817" y="573072"/>
            <a:ext cx="9179353" cy="602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857F23-5D13-FB35-84D5-FBADC1ED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541"/>
            <a:ext cx="10515600" cy="875845"/>
          </a:xfrm>
        </p:spPr>
        <p:txBody>
          <a:bodyPr/>
          <a:lstStyle/>
          <a:p>
            <a:pPr algn="ctr"/>
            <a:r>
              <a:rPr lang="en-GB" b="1" dirty="0"/>
              <a:t>DNA Replication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31670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5089-92E6-9244-1041-E1C3EF0D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344"/>
          </a:xfrm>
        </p:spPr>
        <p:txBody>
          <a:bodyPr/>
          <a:lstStyle/>
          <a:p>
            <a:r>
              <a:rPr lang="en-GB" dirty="0"/>
              <a:t>T</a:t>
            </a:r>
            <a:r>
              <a:rPr lang="en-GB" sz="4400" dirty="0"/>
              <a:t>hree-stage process of DNA Replication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DE5F6-A10B-157D-77DF-5F8104C2CEA9}"/>
              </a:ext>
            </a:extLst>
          </p:cNvPr>
          <p:cNvSpPr txBox="1"/>
          <p:nvPr/>
        </p:nvSpPr>
        <p:spPr>
          <a:xfrm>
            <a:off x="1015620" y="1472470"/>
            <a:ext cx="101607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GB" b="1" dirty="0"/>
              <a:t>Initiation</a:t>
            </a:r>
          </a:p>
          <a:p>
            <a:pPr marL="685800" lvl="1" indent="-228600" algn="just">
              <a:buFont typeface="+mj-lt"/>
              <a:buAutoNum type="alphaLcParenR"/>
            </a:pPr>
            <a:r>
              <a:rPr lang="en-GB" b="1" dirty="0"/>
              <a:t>Origin Recognition</a:t>
            </a:r>
            <a:r>
              <a:rPr lang="en-GB" dirty="0"/>
              <a:t>: Replication begins at specific locations called the "origin of replication". Initiator proteins identify these sites, and enzymes like helicase begin to unwind the double helix, forming a "replication fork".</a:t>
            </a:r>
          </a:p>
          <a:p>
            <a:pPr marL="685800" lvl="1" indent="-228600" algn="just">
              <a:buFont typeface="+mj-lt"/>
              <a:buAutoNum type="alphaLcParenR"/>
            </a:pPr>
            <a:r>
              <a:rPr lang="en-GB" b="1" dirty="0"/>
              <a:t>Unwinding and Stabilizing</a:t>
            </a:r>
            <a:r>
              <a:rPr lang="en-GB" dirty="0"/>
              <a:t>: Helicase breaks the hydrogen bonds between base pairs, separating the two strands. Single-strand binding proteins coat the DNA around the fork to prevent it from rewinding, while Topoisomerase/Gyrase acts ahead of the fork to prevent excessive supercoiling.</a:t>
            </a:r>
          </a:p>
          <a:p>
            <a:pPr marL="685800" lvl="1" indent="-228600" algn="just">
              <a:buFont typeface="+mj-lt"/>
              <a:buAutoNum type="alphaLcParenR"/>
            </a:pPr>
            <a:r>
              <a:rPr lang="en-GB" b="1" dirty="0"/>
              <a:t>Priming</a:t>
            </a:r>
            <a:r>
              <a:rPr lang="en-GB" dirty="0"/>
              <a:t>: DNA primase binds to the template strand and synthesizes a short RNA primer, providing the starting point (a 3' end) for DNA polymerase to begin building the new strand.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GB" b="1" dirty="0"/>
              <a:t>Elongation (Synthesis)</a:t>
            </a:r>
            <a:r>
              <a:rPr lang="en-GB" dirty="0"/>
              <a:t>: DNA polymerase adds nucleotides to the primer, moving in a 5' to 3' direction.</a:t>
            </a:r>
          </a:p>
          <a:p>
            <a:pPr marL="685800" lvl="1" indent="-228600" algn="just">
              <a:buFont typeface="+mj-lt"/>
              <a:buAutoNum type="alphaLcParenR"/>
            </a:pPr>
            <a:r>
              <a:rPr lang="en-GB" dirty="0"/>
              <a:t>Leading Strand: Synthesized continuously toward the replication fork.</a:t>
            </a:r>
          </a:p>
          <a:p>
            <a:pPr marL="685800" lvl="1" indent="-228600" algn="just">
              <a:buFont typeface="+mj-lt"/>
              <a:buAutoNum type="alphaLcParenR"/>
            </a:pPr>
            <a:r>
              <a:rPr lang="en-GB" dirty="0"/>
              <a:t>Lagging Strand: Synthesized discontinuously away from the fork in short, 5' to 3' segments called Okazaki fragments, which require multiple primers.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GB" b="1" dirty="0"/>
              <a:t>Termination and Proofreading</a:t>
            </a:r>
            <a:r>
              <a:rPr lang="en-GB" dirty="0"/>
              <a:t>: Once the entire strand is copied, RNA primers are removed, and the gaps are filled by DNA polymerase I and sealed by DNA ligase, which joins Okazaki fragments. The newly synthesized DNA is then proofread for errors. </a:t>
            </a:r>
          </a:p>
        </p:txBody>
      </p:sp>
    </p:spTree>
    <p:extLst>
      <p:ext uri="{BB962C8B-B14F-4D97-AF65-F5344CB8AC3E}">
        <p14:creationId xmlns:p14="http://schemas.microsoft.com/office/powerpoint/2010/main" val="3237357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5089-92E6-9244-1041-E1C3EF0DA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Beyond the "Ends": Where Replication Begins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2DE46-110D-CA1A-F311-BDA816112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Most organisms do not start replication at the end of a chromosome.</a:t>
            </a:r>
          </a:p>
          <a:p>
            <a:pPr algn="just"/>
            <a:r>
              <a:rPr lang="en-GB" dirty="0"/>
              <a:t>Bacteria (E. coli): Chromosomes are circular; therefore, there is no "end" to start from.</a:t>
            </a:r>
          </a:p>
          <a:p>
            <a:pPr algn="just"/>
            <a:r>
              <a:rPr lang="en-GB" dirty="0"/>
              <a:t>Eukaryotes: Though chromosomes are linear, replication still initiates internally rather than at the tips.</a:t>
            </a:r>
          </a:p>
          <a:p>
            <a:pPr algn="just"/>
            <a:r>
              <a:rPr lang="en-GB" dirty="0"/>
              <a:t>Exceptions: Only a few specific viruses are known to initiate replication from the ends of the genome.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634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5089-92E6-9244-1041-E1C3EF0D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2475"/>
          </a:xfrm>
        </p:spPr>
        <p:txBody>
          <a:bodyPr/>
          <a:lstStyle/>
          <a:p>
            <a:r>
              <a:rPr lang="en-GB" dirty="0"/>
              <a:t>Some Definitions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8AEC26-6DB3-615D-E0F6-31F67B3EA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5844"/>
              </p:ext>
            </p:extLst>
          </p:nvPr>
        </p:nvGraphicFramePr>
        <p:xfrm>
          <a:off x="838200" y="1615873"/>
          <a:ext cx="10515600" cy="249936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955319809"/>
                    </a:ext>
                  </a:extLst>
                </a:gridCol>
                <a:gridCol w="8267700">
                  <a:extLst>
                    <a:ext uri="{9D8B030D-6E8A-4147-A177-3AD203B41FA5}">
                      <a16:colId xmlns:a16="http://schemas.microsoft.com/office/drawing/2014/main" val="5666659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Term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150" marR="57150" marT="38100" marB="3810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Definition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8533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Origin of Replication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150" marR="57150" marT="38100" marB="3810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2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The </a:t>
                      </a:r>
                      <a:r>
                        <a:rPr lang="en-GB" sz="2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physical site</a:t>
                      </a:r>
                      <a:r>
                        <a:rPr lang="en-GB" sz="2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where DNA is initially unwound and synthesis is initiated.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7252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Efficiency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150" marR="57150" marT="38100" marB="3810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2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The percentage of cell divisions in which a specific origin initiates.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516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Replicon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150" marR="57150" marT="38100" marB="3810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2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The total region of DNA replicated by the forks derived from a single origin.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622354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DC1D92A-D8EF-19C7-E713-83A7B4F290D9}"/>
              </a:ext>
            </a:extLst>
          </p:cNvPr>
          <p:cNvSpPr txBox="1"/>
          <p:nvPr/>
        </p:nvSpPr>
        <p:spPr>
          <a:xfrm>
            <a:off x="838199" y="4463506"/>
            <a:ext cx="105155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b="1" dirty="0"/>
              <a:t>Origin Efficiency</a:t>
            </a:r>
            <a:r>
              <a:rPr lang="en-GB" sz="2400" dirty="0"/>
              <a:t>: Bacterial origins usually initiate at or near 100%, while most eukaryotic origins are much less efficient.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b="1" dirty="0"/>
              <a:t>Directionality</a:t>
            </a:r>
            <a:r>
              <a:rPr lang="en-GB" sz="2400" dirty="0"/>
              <a:t>: Almost all known origins are bi-directional, generating two replication forks that move in opposite directions.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3813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57F23-5D13-FB35-84D5-FBADC1ED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541"/>
            <a:ext cx="10515600" cy="875845"/>
          </a:xfrm>
        </p:spPr>
        <p:txBody>
          <a:bodyPr/>
          <a:lstStyle/>
          <a:p>
            <a:pPr algn="ctr"/>
            <a:r>
              <a:rPr lang="en-GB" b="1" dirty="0"/>
              <a:t>DNA Replication</a:t>
            </a:r>
            <a:endParaRPr lang="en-US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07708D-B51C-B4DA-27AD-9B3853671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90" t="27592" r="23685" b="26878"/>
          <a:stretch/>
        </p:blipFill>
        <p:spPr>
          <a:xfrm>
            <a:off x="648888" y="1257302"/>
            <a:ext cx="10894223" cy="4841876"/>
          </a:xfrm>
        </p:spPr>
      </p:pic>
    </p:spTree>
    <p:extLst>
      <p:ext uri="{BB962C8B-B14F-4D97-AF65-F5344CB8AC3E}">
        <p14:creationId xmlns:p14="http://schemas.microsoft.com/office/powerpoint/2010/main" val="3418212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5089-92E6-9244-1041-E1C3EF0D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344"/>
          </a:xfrm>
        </p:spPr>
        <p:txBody>
          <a:bodyPr/>
          <a:lstStyle/>
          <a:p>
            <a:r>
              <a:rPr lang="en-GB" dirty="0"/>
              <a:t>The Replicon Model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DE5F6-A10B-157D-77DF-5F8104C2CEA9}"/>
              </a:ext>
            </a:extLst>
          </p:cNvPr>
          <p:cNvSpPr txBox="1"/>
          <p:nvPr/>
        </p:nvSpPr>
        <p:spPr>
          <a:xfrm>
            <a:off x="1015620" y="1472470"/>
            <a:ext cx="10160759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/>
              <a:t>Proposed by Sydney Brenner and François Jacob, this model defines two functional components required for initiation: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b="1" dirty="0"/>
              <a:t>The Replicator (Genetic Entity)</a:t>
            </a:r>
            <a:r>
              <a:rPr lang="en-GB" sz="2400" dirty="0"/>
              <a:t>: The specific DNA sequence required to initiate replication. If essential parts of this sequence are removed, replication will not start.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b="1" dirty="0"/>
              <a:t>The Initiator (Protein)</a:t>
            </a:r>
            <a:r>
              <a:rPr lang="en-GB" sz="2400" dirty="0"/>
              <a:t>: A protein that recognizes and binds to the replicator to activate the initiation process.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1445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5089-92E6-9244-1041-E1C3EF0D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344"/>
          </a:xfrm>
        </p:spPr>
        <p:txBody>
          <a:bodyPr>
            <a:normAutofit fontScale="90000"/>
          </a:bodyPr>
          <a:lstStyle/>
          <a:p>
            <a:r>
              <a:rPr lang="en-GB" dirty="0"/>
              <a:t>Replicator vs. Origin: The Transcription Analogy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DE5F6-A10B-157D-77DF-5F8104C2CEA9}"/>
              </a:ext>
            </a:extLst>
          </p:cNvPr>
          <p:cNvSpPr txBox="1"/>
          <p:nvPr/>
        </p:nvSpPr>
        <p:spPr>
          <a:xfrm>
            <a:off x="838200" y="1288222"/>
            <a:ext cx="10515600" cy="322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300" dirty="0"/>
              <a:t>It is vital to distinguish between the genetic instructions and the physical action.</a:t>
            </a:r>
          </a:p>
          <a:p>
            <a:pPr algn="just">
              <a:lnSpc>
                <a:spcPct val="150000"/>
              </a:lnSpc>
            </a:pPr>
            <a:r>
              <a:rPr lang="en-GB" sz="2300" dirty="0"/>
              <a:t>"The replicator is to the origin as a promoter is to a transcription start site."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300" dirty="0"/>
              <a:t>Overlap: Replicators and origins typically overlap, but they are not identical.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300" dirty="0"/>
              <a:t>Size Variance: The replicator is usually the same size or much larger than the origin.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300" dirty="0"/>
              <a:t>Extreme Cases: Some replicators exceed 50 </a:t>
            </a:r>
            <a:r>
              <a:rPr lang="en-GB" sz="2300" dirty="0" err="1"/>
              <a:t>Kb</a:t>
            </a:r>
            <a:r>
              <a:rPr lang="en-GB" sz="2300" dirty="0"/>
              <a:t> in size, while the physical origin may only be a 100 base pair region.</a:t>
            </a:r>
            <a:endParaRPr lang="en-US" sz="2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362196-353A-BA63-6213-041F93543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491" y="4511156"/>
            <a:ext cx="7788202" cy="224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47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5089-92E6-9244-1041-E1C3EF0D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344"/>
          </a:xfrm>
        </p:spPr>
        <p:txBody>
          <a:bodyPr>
            <a:normAutofit/>
          </a:bodyPr>
          <a:lstStyle/>
          <a:p>
            <a:pPr algn="just"/>
            <a:r>
              <a:rPr lang="en-GB" sz="4400" dirty="0"/>
              <a:t>Test your understanding of the lecture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DE5F6-A10B-157D-77DF-5F8104C2CEA9}"/>
              </a:ext>
            </a:extLst>
          </p:cNvPr>
          <p:cNvSpPr txBox="1"/>
          <p:nvPr/>
        </p:nvSpPr>
        <p:spPr>
          <a:xfrm>
            <a:off x="838200" y="1451995"/>
            <a:ext cx="10515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1. True or False? </a:t>
            </a:r>
            <a:r>
              <a:rPr lang="en-GB" sz="2000" b="1" dirty="0"/>
              <a:t>Most eukaryotic organisms initiate DNA replication at the very ends of their linear chromosomes.</a:t>
            </a:r>
          </a:p>
          <a:p>
            <a:pPr algn="just"/>
            <a:r>
              <a:rPr lang="en-GB" sz="2000" dirty="0"/>
              <a:t>Answer: False. In all but a few viruses, replication does not start from the ends.</a:t>
            </a:r>
          </a:p>
          <a:p>
            <a:pPr algn="just"/>
            <a:r>
              <a:rPr lang="en-GB" sz="2000" dirty="0"/>
              <a:t>2. </a:t>
            </a:r>
            <a:r>
              <a:rPr lang="en-GB" sz="2000" b="1" dirty="0"/>
              <a:t>Efficiency Check: If a specific origin of replication in a eukaryotic cell has an "efficiency" of 60%, what does that mean?</a:t>
            </a:r>
          </a:p>
          <a:p>
            <a:pPr algn="just"/>
            <a:r>
              <a:rPr lang="en-GB" sz="2000" dirty="0"/>
              <a:t>Answer: It means the origin initiates replication in 60% of cell divisions. Unlike bacterial origins, eukaryotic origins are often much less than 100% efficient.</a:t>
            </a:r>
          </a:p>
          <a:p>
            <a:pPr algn="just"/>
            <a:r>
              <a:rPr lang="en-GB" sz="2000" b="1" dirty="0"/>
              <a:t>3. The Genetic vs. Physical: Which term refers to the physical site where DNA is initially unwound?</a:t>
            </a:r>
          </a:p>
          <a:p>
            <a:pPr algn="just"/>
            <a:r>
              <a:rPr lang="en-GB" sz="2000" dirty="0"/>
              <a:t>Answer: The Origin of Replication. The "Replicator" is the genetic DNA sequence required for that initiation to occur.</a:t>
            </a:r>
          </a:p>
          <a:p>
            <a:pPr algn="just"/>
            <a:r>
              <a:rPr lang="en-GB" sz="2000" b="1" dirty="0"/>
              <a:t>4. The Initiator's Role: According to the Brenner and Jacob "Replicon Model," what is the function of the Initiator?</a:t>
            </a:r>
          </a:p>
          <a:p>
            <a:pPr algn="just"/>
            <a:r>
              <a:rPr lang="en-GB" sz="2000" dirty="0"/>
              <a:t>Answer: It is a protein that recognizes and binds to the replicator sequence to activate the initiation of replication.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66125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</TotalTime>
  <Words>788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Initiating DNA Replication</vt:lpstr>
      <vt:lpstr>DNA Replication</vt:lpstr>
      <vt:lpstr>Three-stage process of DNA Replication</vt:lpstr>
      <vt:lpstr>Beyond the "Ends": Where Replication Begins</vt:lpstr>
      <vt:lpstr>Some Definitions</vt:lpstr>
      <vt:lpstr>DNA Replication</vt:lpstr>
      <vt:lpstr>The Replicon Model</vt:lpstr>
      <vt:lpstr>Replicator vs. Origin: The Transcription Analogy</vt:lpstr>
      <vt:lpstr>Test your understanding of the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sinh học ứng dụng (Applied Bioinformatics)</dc:title>
  <dc:creator>Luu Loi</dc:creator>
  <cp:lastModifiedBy>Luu Loi</cp:lastModifiedBy>
  <cp:revision>196</cp:revision>
  <dcterms:created xsi:type="dcterms:W3CDTF">2023-07-21T21:55:59Z</dcterms:created>
  <dcterms:modified xsi:type="dcterms:W3CDTF">2026-02-04T13:28:07Z</dcterms:modified>
</cp:coreProperties>
</file>